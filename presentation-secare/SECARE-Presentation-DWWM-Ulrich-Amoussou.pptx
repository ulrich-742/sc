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: Secare met en relation des clients avec des coiffeurs à domicile.,Annoncer une présentation centrée sur le parcours utilisateur et le fonctionnement full-stack.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rapidement le plan et annoncer une démonstration courte si le temps le permet.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 réalisé en équipe de quatre pendant deux mois, à partir d’un besoin réel exprimé par le fondateur de Secare.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la priorisation a permis de concentrer le travail sur la valeur principale : la réservation.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Être transparent : le socle du monorepo a été fourni par l’école.,Détailler l’installation des dépendances, le .env et le lancement du client et du serveur.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une maquette mobile et desktop pendant la présentation.,Expliquer les choix de contraste noir, blanc et doré.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Utiliser un exemple concret : la création d’un rendez-vous traverse toutes les couches.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Préciser que l’espace administrateur a principalement été pensé pour desktop.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 code de searchValue et le hook useBarbers.,Expliquer le cycle : saisie, mise à jour de l’état, filtre, nouveau rendu.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clairement : j’ai pris en charge la page BarberPrestation.,Expliquer une opération de bout en bout, de l’interface jusqu’à MySQL.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le lien entre expérience utilisateur et cohérence des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ensuite le MCD complet dans le dossier.,Expliquer pourquoi propose est une relation plusieurs-à-plusieurs.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Contribution personnelle : expliquer barberActions.ts et barberRepository.ts.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Donner l’exemple : un coiffeur ne peut modifier que son propre profil.,En cas de droits insuffisants, le serveur renvoie 403 Forbidden.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N’annoncer « obtenu » que si ce comportement a été vérifié avant l’oral. Sinon, effectuer le test avant l’examen.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Citer les sources de veille réellement consultées : documentation officielle et OWASP si cela correspond à ton travail.,Ne pas inventer une source non consultée.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Valoriser cette diapositive : savoir identifier les limites est une compétence professionnelle.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sur la progression personnelle et la cohérence entre les couches.,Inviter le jury à poser ses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6A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Ulrich Amoussou • DWWM 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ecoleproject\secare\Js-Team-vert-WildWlaker-P3-G2\client\src\assets\images\background.webp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1512">
              <a:alpha val="82000"/>
            </a:srgbClr>
          </a:solidFill>
          <a:ln w="12700">
            <a:solidFill>
              <a:srgbClr val="171512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0972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150" kern="0" dirty="0">
                <a:solidFill>
                  <a:srgbClr val="FFFFFF"/>
                </a:solidFill>
              </a:rPr>
              <a:t>SECARE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94944" y="217627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9D4B1"/>
                </a:solidFill>
              </a:rPr>
              <a:t>La coiffure à domicile, simplement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94944" y="2907792"/>
            <a:ext cx="2103120" cy="0"/>
          </a:xfrm>
          <a:prstGeom prst="line">
            <a:avLst/>
          </a:prstGeom>
          <a:noFill/>
          <a:ln w="50800">
            <a:solidFill>
              <a:srgbClr val="C889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" y="318211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Projet de formation • Titre professionnel DWWM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94944" y="60533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7BB"/>
                </a:solidFill>
              </a:rPr>
              <a:t>Ulrich AMOUSSOU  |  Wild Code School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35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Plan de la présentation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5087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892E"/>
                </a:solidFill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17320" y="15087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512"/>
                </a:solidFill>
              </a:rPr>
              <a:t>Projet &amp; besoins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84080" y="1508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258"/>
                </a:solidFill>
              </a:rPr>
              <a:t>5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17320" y="1984248"/>
            <a:ext cx="9646920" cy="0"/>
          </a:xfrm>
          <a:prstGeom prst="line">
            <a:avLst/>
          </a:prstGeom>
          <a:noFill/>
          <a:ln w="12700">
            <a:solidFill>
              <a:srgbClr val="DDD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3500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892E"/>
                </a:solidFill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23500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512"/>
                </a:solidFill>
              </a:rPr>
              <a:t>Conception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784080" y="23500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258"/>
                </a:solidFill>
              </a:rPr>
              <a:t>5 min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17320" y="2825496"/>
            <a:ext cx="9646920" cy="0"/>
          </a:xfrm>
          <a:prstGeom prst="line">
            <a:avLst/>
          </a:prstGeom>
          <a:noFill/>
          <a:ln w="12700">
            <a:solidFill>
              <a:srgbClr val="DDD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1912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892E"/>
                </a:solidFill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19125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512"/>
                </a:solidFill>
              </a:rPr>
              <a:t>Front-end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784080" y="3191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258"/>
                </a:solidFill>
              </a:rPr>
              <a:t>8 min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17320" y="3666744"/>
            <a:ext cx="9646920" cy="0"/>
          </a:xfrm>
          <a:prstGeom prst="line">
            <a:avLst/>
          </a:prstGeom>
          <a:noFill/>
          <a:ln w="12700">
            <a:solidFill>
              <a:srgbClr val="DDD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0325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892E"/>
                </a:solidFill>
              </a:rPr>
              <a:t>04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40325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512"/>
                </a:solidFill>
              </a:rPr>
              <a:t>Back-end &amp; données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784080" y="40325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258"/>
                </a:solidFill>
              </a:rPr>
              <a:t>10 min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417320" y="4507992"/>
            <a:ext cx="9646920" cy="0"/>
          </a:xfrm>
          <a:prstGeom prst="line">
            <a:avLst/>
          </a:prstGeom>
          <a:noFill/>
          <a:ln w="12700">
            <a:solidFill>
              <a:srgbClr val="DDD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873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892E"/>
                </a:solidFill>
              </a:rPr>
              <a:t>05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17320" y="48737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512"/>
                </a:solidFill>
              </a:rPr>
              <a:t>Sécurité &amp; bilan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784080" y="48737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258"/>
                </a:solidFill>
              </a:rPr>
              <a:t>7 min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417320" y="5349240"/>
            <a:ext cx="9646920" cy="0"/>
          </a:xfrm>
          <a:prstGeom prst="line">
            <a:avLst/>
          </a:prstGeom>
          <a:noFill/>
          <a:ln w="12700">
            <a:solidFill>
              <a:srgbClr val="DDD4C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CONTEXTE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Le projet en une phrase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10652760" cy="1234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1512"/>
                </a:solidFill>
              </a:rPr>
              <a:t>« Permettre à un client de trouver un coiffeur, choisir une prestation et réserver un rendez-vous, tout en donnant au professionnel les outils pour gérer son activité. »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320040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3200400"/>
            <a:ext cx="73152" cy="1508760"/>
          </a:xfrm>
          <a:prstGeom prst="rect">
            <a:avLst/>
          </a:prstGeom>
          <a:solidFill>
            <a:srgbClr val="376B8D"/>
          </a:solidFill>
          <a:ln w="12700">
            <a:solidFill>
              <a:srgbClr val="376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01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Client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8587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Recherche, prestations, disponibilités, réservation et avis.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07408" y="320040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3200400"/>
            <a:ext cx="73152" cy="1508760"/>
          </a:xfrm>
          <a:prstGeom prst="rect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401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Coiffeur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8587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Profil, portfolio, prestations, planning et rendez-vous.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56448" y="320040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3200400"/>
            <a:ext cx="73152" cy="1508760"/>
          </a:xfrm>
          <a:prstGeom prst="rect">
            <a:avLst/>
          </a:prstGeom>
          <a:solidFill>
            <a:srgbClr val="3C7A57"/>
          </a:solidFill>
          <a:ln w="12700">
            <a:solidFill>
              <a:srgbClr val="3C7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3401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Administrateur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38587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Supervision des comptes, activité et statistiques.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EXPRESSION DES BESOINS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Périmètre du MVP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73152" cy="4160520"/>
          </a:xfrm>
          <a:prstGeom prst="rect">
            <a:avLst/>
          </a:prstGeom>
          <a:solidFill>
            <a:srgbClr val="3C7A57"/>
          </a:solidFill>
          <a:ln w="12700">
            <a:solidFill>
              <a:srgbClr val="3C7A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7099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Inclus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2167128"/>
            <a:ext cx="46177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Création de compte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Recherche de coiffeurs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Prestations et disponibilités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Réservation et suivi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Profils et avis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19088" y="150876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508760"/>
            <a:ext cx="73152" cy="4160520"/>
          </a:xfrm>
          <a:prstGeom prst="rect">
            <a:avLst/>
          </a:prstGeom>
          <a:solidFill>
            <a:srgbClr val="A6423A"/>
          </a:solidFill>
          <a:ln w="12700">
            <a:solidFill>
              <a:srgbClr val="A64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7099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Hors périmètre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2167128"/>
            <a:ext cx="46177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Paiement en ligne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Messagerie instantanée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Géolocalisation en temps réel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Envoi complet d’e-mails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920240" y="58704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892E"/>
                </a:solidFill>
              </a:rPr>
              <a:t>Choix : garantir un parcours principal fonctionnel dans le temps disponible.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TRAVAIL EN ÉQUIPE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Organisation et environnement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640080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71512"/>
                </a:solidFill>
              </a:rPr>
              <a:t>Monorepo TypeScript fourni et préconfiguré par la Wild Code School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71512"/>
                </a:solidFill>
              </a:rPr>
              <a:t>Visual Studio Code, NPM et variables d’environnement .env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71512"/>
                </a:solidFill>
              </a:rPr>
              <a:t>GitHub : branches par fonctionnalité et intégration progressive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71512"/>
                </a:solidFill>
              </a:rPr>
              <a:t>Trello : User Stories, priorités, responsables et suivi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71512"/>
                </a:solidFill>
              </a:rPr>
              <a:t>Biome : formatage et contrôle de cohérence du code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35240" y="160020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08392" y="1673352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 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464040" y="160020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37192" y="1673352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NPM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35240" y="2679192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08392" y="2752344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 / GitHub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464040" y="2679192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37192" y="2752344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Trello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35240" y="3758184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08392" y="3831336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Biome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64040" y="3758184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3C7A57"/>
          </a:solidFill>
          <a:ln w="12700">
            <a:solidFill>
              <a:srgbClr val="3C7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37192" y="3831336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.env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43800" y="4892040"/>
            <a:ext cx="38404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Je l’ai utilisé et adapté au projet ; je ne l’ai pas créé.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Du besoin à l’interface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89888" y="1508760"/>
            <a:ext cx="685800" cy="685800"/>
          </a:xfrm>
          <a:prstGeom prst="ellipse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9888" y="167335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24871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512"/>
                </a:solidFill>
              </a:rPr>
              <a:t>Entretien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" y="29443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258"/>
                </a:solidFill>
              </a:rPr>
              <a:t>Comprendre le besoin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07208" y="1655064"/>
            <a:ext cx="594360" cy="384048"/>
          </a:xfrm>
          <a:prstGeom prst="chevron">
            <a:avLst/>
          </a:prstGeom>
          <a:solidFill>
            <a:srgbClr val="DAC7AA"/>
          </a:solidFill>
          <a:ln w="12700">
            <a:solidFill>
              <a:srgbClr val="DAC7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42816" y="1508760"/>
            <a:ext cx="685800" cy="685800"/>
          </a:xfrm>
          <a:prstGeom prst="ellipse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42816" y="167335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11296" y="24871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512"/>
                </a:solidFill>
              </a:rPr>
              <a:t>Wireframes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11296" y="29443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258"/>
                </a:solidFill>
              </a:rPr>
              <a:t>Structurer les parcours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0136" y="1655064"/>
            <a:ext cx="594360" cy="384048"/>
          </a:xfrm>
          <a:prstGeom prst="chevron">
            <a:avLst/>
          </a:prstGeom>
          <a:solidFill>
            <a:srgbClr val="DAC7AA"/>
          </a:solidFill>
          <a:ln w="12700">
            <a:solidFill>
              <a:srgbClr val="DAC7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95744" y="1508760"/>
            <a:ext cx="685800" cy="685800"/>
          </a:xfrm>
          <a:prstGeom prst="ellipse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95744" y="167335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64224" y="24871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512"/>
                </a:solidFill>
              </a:rPr>
              <a:t>Figma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64224" y="29443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258"/>
                </a:solidFill>
              </a:rPr>
              <a:t>Valider le rendu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13064" y="1655064"/>
            <a:ext cx="594360" cy="384048"/>
          </a:xfrm>
          <a:prstGeom prst="chevron">
            <a:avLst/>
          </a:prstGeom>
          <a:solidFill>
            <a:srgbClr val="DAC7AA"/>
          </a:solidFill>
          <a:ln w="12700">
            <a:solidFill>
              <a:srgbClr val="DAC7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48672" y="1508760"/>
            <a:ext cx="685800" cy="685800"/>
          </a:xfrm>
          <a:prstGeom prst="ellipse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48672" y="167335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217152" y="24871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512"/>
                </a:solidFill>
              </a:rPr>
              <a:t>React + CSS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217152" y="29443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258"/>
                </a:solidFill>
              </a:rPr>
              <a:t>Intégrer et adapter</a:t>
            </a:r>
            <a:endParaRPr lang="en-US" sz="1400" dirty="0"/>
          </a:p>
        </p:txBody>
      </p:sp>
      <p:pic>
        <p:nvPicPr>
          <p:cNvPr id="23" name="Image 0" descr="D:\ecoleproject\secare\Js-Team-vert-WildWlaker-P3-G2\client\src\assets\images\logoo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4160520"/>
            <a:ext cx="3108960" cy="10424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VUE D’ENSEMBLE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Une architecture full-stack séparée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C88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892E"/>
                </a:solidFill>
              </a:rPr>
              <a:t>UTILISATEUR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512"/>
                </a:solidFill>
              </a:rPr>
              <a:t>Navigateur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43784" y="2514600"/>
            <a:ext cx="438912" cy="411480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10712" y="201168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171512"/>
          </a:solidFill>
          <a:ln w="25400">
            <a:solidFill>
              <a:srgbClr val="1715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892E"/>
                </a:solidFill>
              </a:rPr>
              <a:t>FRONT-END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React • TypeScript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751576" y="2514600"/>
            <a:ext cx="438912" cy="411480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18504" y="201168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C88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892E"/>
                </a:solidFill>
              </a:rPr>
              <a:t>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28232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512"/>
                </a:solidFill>
              </a:rPr>
              <a:t>Node.js • Express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659368" y="2514600"/>
            <a:ext cx="438912" cy="411480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26296" y="201168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171512"/>
          </a:solidFill>
          <a:ln w="25400">
            <a:solidFill>
              <a:srgbClr val="1715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36024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892E"/>
                </a:solidFill>
              </a:rPr>
              <a:t>DONNÉES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36024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MySQL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4251960"/>
            <a:ext cx="106070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512"/>
                </a:solidFill>
              </a:rPr>
              <a:t>Action utilisateur  →  requête HTTP  →  contrôles métier  →  requête SQL  →  réponse JSON  →  mise à jour de l’interface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FRONT-END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Interfaces statiques et responsives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498348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71512"/>
                </a:solidFill>
              </a:rPr>
              <a:t>Composants React réutilisables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71512"/>
                </a:solidFill>
              </a:rPr>
              <a:t>JSX pour structurer les contenus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71512"/>
                </a:solidFill>
              </a:rPr>
              <a:t>CSS et variables dans :root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71512"/>
                </a:solidFill>
              </a:rPr>
              <a:t>Adaptation mobile, tablette et desktop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71512"/>
                </a:solidFill>
              </a:rPr>
              <a:t>Première prise en compte de l’accessibilité</a:t>
            </a:r>
            <a:endParaRPr lang="en-US" sz="1900" dirty="0"/>
          </a:p>
        </p:txBody>
      </p:sp>
      <p:pic>
        <p:nvPicPr>
          <p:cNvPr id="5" name="Image 0" descr="D:\ecoleproject\secare\Js-Team-vert-WildWlaker-P3-G2\client\src\assets\images\SecareBar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298448"/>
            <a:ext cx="3063240" cy="45994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802368" y="1901952"/>
            <a:ext cx="1600200" cy="3429000"/>
          </a:xfrm>
          <a:prstGeom prst="roundRect">
            <a:avLst>
              <a:gd name="adj" fmla="val 4571"/>
            </a:avLst>
          </a:prstGeom>
          <a:solidFill>
            <a:srgbClr val="171512"/>
          </a:solidFill>
          <a:ln w="25400">
            <a:solidFill>
              <a:srgbClr val="C889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85248" y="28803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MOBILE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FIRST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FRONT-END DYNAMIQUE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Une interface alimentée par l’API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73152" cy="1828800"/>
          </a:xfrm>
          <a:prstGeom prst="rect">
            <a:avLst/>
          </a:prstGeom>
          <a:solidFill>
            <a:srgbClr val="376B8D"/>
          </a:solidFill>
          <a:ln w="12700">
            <a:solidFill>
              <a:srgbClr val="376B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7099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1. Charger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216712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Les hooks personnalisés envoient les requêtes et enregistrent les données.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07408" y="150876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508760"/>
            <a:ext cx="73152" cy="1828800"/>
          </a:xfrm>
          <a:prstGeom prst="rect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7099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2. Interagir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16712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Les états React conservent recherche, formulaire, chargement et erreurs.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11312" y="150876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1312" y="1508760"/>
            <a:ext cx="73152" cy="1828800"/>
          </a:xfrm>
          <a:prstGeom prst="rect">
            <a:avLst/>
          </a:prstGeom>
          <a:solidFill>
            <a:srgbClr val="3C7A57"/>
          </a:solidFill>
          <a:ln w="12700">
            <a:solidFill>
              <a:srgbClr val="3C7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67344" y="17099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3. Afficher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67344" y="216712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Le rendu se met à jour sans rechargement complet de la page.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0120" y="4160520"/>
            <a:ext cx="102412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1512"/>
                </a:solidFill>
              </a:rPr>
              <a:t>Exemple personnel : recherche des coiffeurs par nom ou par ville, puis transmission des résultats au carrousel.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GESTION DES PRESTATIONS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Ma contribution principale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8892E"/>
                </a:solidFill>
              </a:rPr>
              <a:t>CRUD complet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6510">
            <a:solidFill>
              <a:srgbClr val="C889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8892E"/>
                </a:solidFill>
              </a:rPr>
              <a:t>C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316736" y="235915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2"/>
                </a:solidFill>
              </a:rPr>
              <a:t>Créer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16736" y="2852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8"/>
                </a:solidFill>
              </a:rPr>
              <a:t>POST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7288" y="214884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EFE5D6"/>
          </a:solidFill>
          <a:ln w="16510">
            <a:solidFill>
              <a:srgbClr val="C889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8892E"/>
                </a:solidFill>
              </a:rPr>
              <a:t>R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105656" y="235915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2"/>
                </a:solidFill>
              </a:rPr>
              <a:t>Consulter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05656" y="2852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8"/>
                </a:solidFill>
              </a:rPr>
              <a:t>GET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6208" y="214884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6510">
            <a:solidFill>
              <a:srgbClr val="C889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8892E"/>
                </a:solidFill>
              </a:rPr>
              <a:t>U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894576" y="235915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2"/>
                </a:solidFill>
              </a:rPr>
              <a:t>Modifier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94576" y="2852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8"/>
                </a:solidFill>
              </a:rPr>
              <a:t>PUT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25128" y="214884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EFE5D6"/>
          </a:solidFill>
          <a:ln w="16510">
            <a:solidFill>
              <a:srgbClr val="C889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8892E"/>
                </a:solidFill>
              </a:rPr>
              <a:t>D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683496" y="235915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2"/>
                </a:solidFill>
              </a:rPr>
              <a:t>Supprimer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683496" y="2852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8"/>
                </a:solidFill>
              </a:rPr>
              <a:t>DELETE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160520"/>
            <a:ext cx="10241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1512"/>
                </a:solidFill>
              </a:rPr>
              <a:t>Formulaire contrôlé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1512"/>
                </a:solidFill>
              </a:rPr>
              <a:t>Conversion du prix et de la durée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1512"/>
                </a:solidFill>
              </a:rPr>
              <a:t>Appels à l’API protégée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1512"/>
                </a:solidFill>
              </a:rPr>
              <a:t>Actualisation après chaque action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FONCTIONNALITÉ REPRÉSENTATIVE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Le parcours de réservation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457200" cy="457200"/>
          </a:xfrm>
          <a:prstGeom prst="ellipse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27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27632" y="14538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2"/>
                </a:solidFill>
              </a:rPr>
              <a:t>Choisir un coiffeur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143000" y="1892808"/>
            <a:ext cx="0" cy="393192"/>
          </a:xfrm>
          <a:prstGeom prst="line">
            <a:avLst/>
          </a:prstGeom>
          <a:noFill/>
          <a:ln w="25400">
            <a:solidFill>
              <a:srgbClr val="CAB9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95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27632" y="232257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2"/>
                </a:solidFill>
              </a:rPr>
              <a:t>Choisir une prestation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143000" y="2761488"/>
            <a:ext cx="0" cy="393192"/>
          </a:xfrm>
          <a:prstGeom prst="line">
            <a:avLst/>
          </a:prstGeom>
          <a:noFill/>
          <a:ln w="25400">
            <a:solidFill>
              <a:srgbClr val="CAB99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154680"/>
            <a:ext cx="457200" cy="457200"/>
          </a:xfrm>
          <a:prstGeom prst="ellipse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644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27632" y="31912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2"/>
                </a:solidFill>
              </a:rPr>
              <a:t>Date, heure et lieu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143000" y="3630168"/>
            <a:ext cx="0" cy="393192"/>
          </a:xfrm>
          <a:prstGeom prst="line">
            <a:avLst/>
          </a:prstGeom>
          <a:noFill/>
          <a:ln w="25400">
            <a:solidFill>
              <a:srgbClr val="CAB99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33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27632" y="40599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2"/>
                </a:solidFill>
              </a:rPr>
              <a:t>Vérifier le récapitulatif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143000" y="4498848"/>
            <a:ext cx="0" cy="393192"/>
          </a:xfrm>
          <a:prstGeom prst="line">
            <a:avLst/>
          </a:prstGeom>
          <a:noFill/>
          <a:ln w="25400">
            <a:solidFill>
              <a:srgbClr val="CAB99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892040"/>
            <a:ext cx="457200" cy="457200"/>
          </a:xfrm>
          <a:prstGeom prst="ellipse">
            <a:avLst/>
          </a:prstGeom>
          <a:solidFill>
            <a:srgbClr val="3C7A57"/>
          </a:solidFill>
          <a:ln w="12700">
            <a:solidFill>
              <a:srgbClr val="3C7A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27632" y="49286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2"/>
                </a:solidFill>
              </a:rPr>
              <a:t>Confirmer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583680" y="1481328"/>
            <a:ext cx="4800600" cy="4315968"/>
          </a:xfrm>
          <a:prstGeom prst="roundRect">
            <a:avLst>
              <a:gd name="adj" fmla="val 1695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481328"/>
            <a:ext cx="73152" cy="4315968"/>
          </a:xfrm>
          <a:prstGeom prst="rect">
            <a:avLst/>
          </a:prstGeom>
          <a:solidFill>
            <a:srgbClr val="376B8D"/>
          </a:solidFill>
          <a:ln w="12700">
            <a:solidFill>
              <a:srgbClr val="376B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168249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Gestion de l’interface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39712" y="2139696"/>
            <a:ext cx="434340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booking conserve les choix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isSubmitting bloque le double clic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error affiche un retour compréhensible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success confirme l’enregistrement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MYSQL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Une base relationnelle cohérente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73152" cy="1325880"/>
          </a:xfrm>
          <a:prstGeom prst="rect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184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users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0756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Compte commun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417320"/>
            <a:ext cx="73152" cy="1325880"/>
          </a:xfrm>
          <a:prstGeom prst="rect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6184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customer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20756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Profil client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417320"/>
            <a:ext cx="73152" cy="1325880"/>
          </a:xfrm>
          <a:prstGeom prst="rect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6184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barber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85632" y="20756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Profil professionnel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83280"/>
            <a:ext cx="73152" cy="1325880"/>
          </a:xfrm>
          <a:prstGeom prst="rect">
            <a:avLst/>
          </a:prstGeom>
          <a:solidFill>
            <a:srgbClr val="376B8D"/>
          </a:solidFill>
          <a:ln w="12700">
            <a:solidFill>
              <a:srgbClr val="376B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584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appointment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" y="404164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Rendez-vous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34840" y="338328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3383280"/>
            <a:ext cx="73152" cy="1325880"/>
          </a:xfrm>
          <a:prstGeom prst="rect">
            <a:avLst/>
          </a:prstGeom>
          <a:solidFill>
            <a:srgbClr val="376B8D"/>
          </a:solidFill>
          <a:ln w="12700">
            <a:solidFill>
              <a:srgbClr val="376B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3584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prestation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90872" y="404164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Service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29600" y="338328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3383280"/>
            <a:ext cx="73152" cy="1325880"/>
          </a:xfrm>
          <a:prstGeom prst="rect">
            <a:avLst/>
          </a:prstGeom>
          <a:solidFill>
            <a:srgbClr val="376B8D"/>
          </a:solidFill>
          <a:ln w="12700">
            <a:solidFill>
              <a:srgbClr val="376B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3584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review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85632" y="404164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Avis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97280" y="55321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512"/>
                </a:solidFill>
              </a:rPr>
              <a:t>Clés primaires + clés étrangères + table de liaison propose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ACCÈS AUX DONNÉES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De la route à la requête SQL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3317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C88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249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892E"/>
                </a:solidFill>
              </a:rPr>
              <a:t>Route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7614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1512"/>
                </a:solidFill>
              </a:rPr>
              <a:t>GET /api/barbers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944368" y="2560320"/>
            <a:ext cx="384048" cy="347472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56432" y="1965960"/>
            <a:ext cx="23317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C88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1024" y="2249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892E"/>
                </a:solidFill>
              </a:rPr>
              <a:t>Action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39312" y="27614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1512"/>
                </a:solidFill>
              </a:rPr>
              <a:t>browse()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852160" y="2560320"/>
            <a:ext cx="384048" cy="347472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64224" y="1965960"/>
            <a:ext cx="2331720" cy="1572768"/>
          </a:xfrm>
          <a:prstGeom prst="roundRect">
            <a:avLst>
              <a:gd name="adj" fmla="val 4651"/>
            </a:avLst>
          </a:prstGeom>
          <a:solidFill>
            <a:srgbClr val="171512"/>
          </a:solidFill>
          <a:ln w="19050">
            <a:solidFill>
              <a:srgbClr val="C88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2249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892E"/>
                </a:solidFill>
              </a:rPr>
              <a:t>Repository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47104" y="27614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Requête SQL + jointures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759952" y="2560320"/>
            <a:ext cx="384048" cy="347472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72016" y="1965960"/>
            <a:ext cx="23317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C889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36608" y="2249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892E"/>
                </a:solidFill>
              </a:rPr>
              <a:t>Réponse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454896" y="27614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1512"/>
                </a:solidFill>
              </a:rPr>
              <a:t>JSON vers React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5840" y="4343400"/>
            <a:ext cx="101498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512"/>
                </a:solidFill>
              </a:rPr>
              <a:t>La requête rassemble le profil, les prestations, les rendez-vous et les avis ; elle calcule aussi la note moyenne et le prix minimum.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SÉCURITÉ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Authentifier puis autoriser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171512"/>
          </a:solidFill>
          <a:ln w="12700">
            <a:solidFill>
              <a:srgbClr val="1715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16712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Validation des champs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103120" y="2221992"/>
            <a:ext cx="256032" cy="347472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04872" y="1828800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171512"/>
          </a:solidFill>
          <a:ln w="12700">
            <a:solidFill>
              <a:srgbClr val="1715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16712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Hachage Argon2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05072" y="2221992"/>
            <a:ext cx="256032" cy="347472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06824" y="1828800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171512"/>
          </a:solidFill>
          <a:ln w="12700">
            <a:solidFill>
              <a:srgbClr val="1715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216712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Création du compte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07024" y="2221992"/>
            <a:ext cx="256032" cy="347472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08776" y="1828800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171512"/>
          </a:solidFill>
          <a:ln w="12700">
            <a:solidFill>
              <a:srgbClr val="1715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216712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Connexion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808976" y="2221992"/>
            <a:ext cx="256032" cy="347472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0728" y="1828800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171512"/>
          </a:solidFill>
          <a:ln w="12700">
            <a:solidFill>
              <a:srgbClr val="1715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0456" y="216712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Signature du JWT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710928" y="2221992"/>
            <a:ext cx="256032" cy="347472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12680" y="1828800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3C7A57"/>
          </a:solidFill>
          <a:ln w="12700">
            <a:solidFill>
              <a:srgbClr val="3C7A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22408" y="216712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Contrôle du rôle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057400" y="3913632"/>
            <a:ext cx="809244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3913632"/>
            <a:ext cx="73152" cy="1371600"/>
          </a:xfrm>
          <a:prstGeom prst="rect">
            <a:avLst/>
          </a:prstGeom>
          <a:solidFill>
            <a:srgbClr val="A6423A"/>
          </a:solidFill>
          <a:ln w="12700">
            <a:solidFill>
              <a:srgbClr val="A64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411480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Principe essentiel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13432" y="457200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Masquer un bouton dans React ne suffit pas : le serveur vérifie toujours l’identité, le rôle et la propriété de la ressource.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PREUVE FONCTIONNELLE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Jeu d’essai : contrôle d’accès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171512"/>
          </a:solidFill>
          <a:ln w="12700">
            <a:solidFill>
              <a:srgbClr val="1715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6362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Entrée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88920" y="1426464"/>
            <a:ext cx="8595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512"/>
                </a:solidFill>
              </a:rPr>
              <a:t>Un coiffeur authentifié tente de modifier le profil d’un autre coiffeur.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450592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171512"/>
          </a:solidFill>
          <a:ln w="12700">
            <a:solidFill>
              <a:srgbClr val="1715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60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Attendu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88920" y="2523744"/>
            <a:ext cx="8595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512"/>
                </a:solidFill>
              </a:rPr>
              <a:t>Le serveur refuse l’opération et ne modifie aucune donnée.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3547872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3C7A57"/>
          </a:solidFill>
          <a:ln w="12700">
            <a:solidFill>
              <a:srgbClr val="3C7A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5818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Obtenu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88920" y="3621024"/>
            <a:ext cx="8595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512"/>
                </a:solidFill>
              </a:rPr>
              <a:t>Réponse HTTP 403 Forbidden ; profil inchangé en base.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" y="4645152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171512"/>
          </a:solidFill>
          <a:ln w="12700">
            <a:solidFill>
              <a:srgbClr val="1715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5546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88920" y="4718304"/>
            <a:ext cx="8595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512"/>
                </a:solidFill>
              </a:rPr>
              <a:t>Le contrôle d’autorisation est bien appliqué côté serveur.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011680" y="58704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892E"/>
                </a:solidFill>
              </a:rPr>
              <a:t>À montrer : requête, réponse, puis vérification de la base.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AMÉLIORATION CONTINUE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Veille et vigilance de sécurité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73152" cy="1874520"/>
          </a:xfrm>
          <a:prstGeom prst="rect">
            <a:avLst/>
          </a:prstGeom>
          <a:solidFill>
            <a:srgbClr val="A6423A"/>
          </a:solidFill>
          <a:ln w="12700">
            <a:solidFill>
              <a:srgbClr val="A64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184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Risque surveillé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75688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Contrôle d’accès insuffisant : un utilisateur pourrait agir sur une ressource qui ne lui appartient pas.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91072" y="14173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ED4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1072" y="1417320"/>
            <a:ext cx="73152" cy="1874520"/>
          </a:xfrm>
          <a:prstGeom prst="rect">
            <a:avLst/>
          </a:prstGeom>
          <a:solidFill>
            <a:srgbClr val="3C7A57"/>
          </a:solidFill>
          <a:ln w="12700">
            <a:solidFill>
              <a:srgbClr val="3C7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7104" y="16184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</a:rPr>
              <a:t>Réponse appliquée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47104" y="2075688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6258"/>
                </a:solidFill>
              </a:rPr>
              <a:t>Vérification du JWT, du rôle et de l’identifiant côté serveur avant l’accès aux données.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3703320"/>
            <a:ext cx="996696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1512"/>
                </a:solidFill>
              </a:rPr>
              <a:t>Mots de passe hachés avec Argon2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1512"/>
                </a:solidFill>
              </a:rPr>
              <a:t>Secrets placés dans .env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1512"/>
                </a:solidFill>
              </a:rPr>
              <a:t>Requêtes SQL paramétrées à expliquer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1512"/>
                </a:solidFill>
              </a:rPr>
              <a:t>Pistes : limitation des tentatives, jetons mieux protégés, validation renforcée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892E"/>
                </a:solidFill>
              </a:rPr>
              <a:t>PRISE DE RECUL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12"/>
                </a:solidFill>
              </a:rPr>
              <a:t>Limites identifiées et prochaines étapes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" y="135331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2"/>
                </a:solidFill>
              </a:rPr>
              <a:t>Double réservation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767328" y="1371600"/>
            <a:ext cx="384048" cy="329184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34840" y="135331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258"/>
                </a:solidFill>
              </a:rPr>
              <a:t>Renforcer les contrôles métier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" y="1883664"/>
            <a:ext cx="10378440" cy="0"/>
          </a:xfrm>
          <a:prstGeom prst="line">
            <a:avLst/>
          </a:prstGeom>
          <a:noFill/>
          <a:ln w="12700">
            <a:solidFill>
              <a:srgbClr val="DED5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24942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2"/>
                </a:solidFill>
              </a:rPr>
              <a:t>Tests automatisés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767328" y="2267712"/>
            <a:ext cx="384048" cy="329184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249424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258"/>
                </a:solidFill>
              </a:rPr>
              <a:t>Couvrir les parcours critiques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9808" y="2779776"/>
            <a:ext cx="10378440" cy="0"/>
          </a:xfrm>
          <a:prstGeom prst="line">
            <a:avLst/>
          </a:prstGeom>
          <a:noFill/>
          <a:ln w="12700">
            <a:solidFill>
              <a:srgbClr val="DED5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14553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2"/>
                </a:solidFill>
              </a:rPr>
              <a:t>Mot de passe oublié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767328" y="3163824"/>
            <a:ext cx="384048" cy="329184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3145536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258"/>
                </a:solidFill>
              </a:rPr>
              <a:t>Jeton temporaire et envoi d’e-mail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3675888"/>
            <a:ext cx="10378440" cy="0"/>
          </a:xfrm>
          <a:prstGeom prst="line">
            <a:avLst/>
          </a:prstGeom>
          <a:noFill/>
          <a:ln w="12700">
            <a:solidFill>
              <a:srgbClr val="DED5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04164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2"/>
                </a:solidFill>
              </a:rPr>
              <a:t>RGPD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767328" y="4059936"/>
            <a:ext cx="384048" cy="329184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4041648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258"/>
                </a:solidFill>
              </a:rPr>
              <a:t>Durées de conservation et droits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49808" y="4572000"/>
            <a:ext cx="10378440" cy="0"/>
          </a:xfrm>
          <a:prstGeom prst="line">
            <a:avLst/>
          </a:prstGeom>
          <a:noFill/>
          <a:ln w="12700">
            <a:solidFill>
              <a:srgbClr val="DED5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93776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2"/>
                </a:solidFill>
              </a:rPr>
              <a:t>Mise en production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767328" y="4956048"/>
            <a:ext cx="384048" cy="329184"/>
          </a:xfrm>
          <a:prstGeom prst="chevron">
            <a:avLst/>
          </a:prstGeom>
          <a:solidFill>
            <a:srgbClr val="C8892E"/>
          </a:solidFill>
          <a:ln w="12700">
            <a:solidFill>
              <a:srgbClr val="C889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493776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258"/>
                </a:solidFill>
              </a:rPr>
              <a:t>Documenter et sécuriser le déploiement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49808" y="5468112"/>
            <a:ext cx="10378440" cy="0"/>
          </a:xfrm>
          <a:prstGeom prst="line">
            <a:avLst/>
          </a:prstGeom>
          <a:noFill/>
          <a:ln w="12700">
            <a:solidFill>
              <a:srgbClr val="DED5C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A6A2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8892E"/>
                </a:solidFill>
              </a:rPr>
              <a:t>BILAN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Ce que Secare m’a appris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6766560" cy="3108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71512"/>
                </a:solidFill>
              </a:rPr>
              <a:t>Relier l’interface, l’API et la base de données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71512"/>
                </a:solidFill>
              </a:rPr>
              <a:t>Concevoir des parcours différents selon les rôles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71512"/>
                </a:solidFill>
              </a:rPr>
              <a:t>Protéger les actions sensibles côté serveur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71512"/>
                </a:solidFill>
              </a:rPr>
              <a:t>Travailler en équipe avec Git et GitHub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71512"/>
                </a:solidFill>
              </a:rPr>
              <a:t>Transformer un besoin réel en MVP fonctionnel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8892E"/>
                </a:solidFill>
              </a:rPr>
              <a:t>Merci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50392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Questions 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18120" y="4709160"/>
            <a:ext cx="3886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7CFC3"/>
                </a:solidFill>
              </a:rPr>
              <a:t>Démonstration : accueil → connexion → prestation → réservation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Wild Code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SECARE — Soutenance DWWM</dc:title>
  <dc:subject>Présentation du projet Secare — Titre professionnel DWWM</dc:subject>
  <dc:creator>Ulrich Amoussou</dc:creator>
  <cp:lastModifiedBy>Ulrich Amoussou</cp:lastModifiedBy>
  <cp:revision>1</cp:revision>
  <dcterms:created xsi:type="dcterms:W3CDTF">2026-09-02T14:31:53Z</dcterms:created>
  <dcterms:modified xsi:type="dcterms:W3CDTF">2026-09-02T14:31:53Z</dcterms:modified>
</cp:coreProperties>
</file>